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8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0D47012-173A-44F9-BE25-E946997D23AE}" v="2" dt="2026-05-03T09:41:35.1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54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AHRA J H F it23708280" userId="953ab806-b273-4734-a4a5-f280d6a00a94" providerId="ADAL" clId="{C5506FE8-8543-4E56-A6F9-CA9128C14B39}"/>
    <pc:docChg chg="undo custSel modSld">
      <pc:chgData name="ZAHRA J H F it23708280" userId="953ab806-b273-4734-a4a5-f280d6a00a94" providerId="ADAL" clId="{C5506FE8-8543-4E56-A6F9-CA9128C14B39}" dt="2026-05-03T09:41:48.729" v="21" actId="14100"/>
      <pc:docMkLst>
        <pc:docMk/>
      </pc:docMkLst>
      <pc:sldChg chg="addSp delSp modSp mod">
        <pc:chgData name="ZAHRA J H F it23708280" userId="953ab806-b273-4734-a4a5-f280d6a00a94" providerId="ADAL" clId="{C5506FE8-8543-4E56-A6F9-CA9128C14B39}" dt="2026-05-03T09:41:48.729" v="21" actId="14100"/>
        <pc:sldMkLst>
          <pc:docMk/>
          <pc:sldMk cId="0" sldId="256"/>
        </pc:sldMkLst>
        <pc:spChg chg="mod">
          <ac:chgData name="ZAHRA J H F it23708280" userId="953ab806-b273-4734-a4a5-f280d6a00a94" providerId="ADAL" clId="{C5506FE8-8543-4E56-A6F9-CA9128C14B39}" dt="2026-05-03T09:41:16.377" v="15" actId="1076"/>
          <ac:spMkLst>
            <pc:docMk/>
            <pc:sldMk cId="0" sldId="256"/>
            <ac:spMk id="4" creationId="{00000000-0000-0000-0000-000000000000}"/>
          </ac:spMkLst>
        </pc:spChg>
        <pc:spChg chg="mod">
          <ac:chgData name="ZAHRA J H F it23708280" userId="953ab806-b273-4734-a4a5-f280d6a00a94" providerId="ADAL" clId="{C5506FE8-8543-4E56-A6F9-CA9128C14B39}" dt="2026-05-03T09:41:16.377" v="15" actId="1076"/>
          <ac:spMkLst>
            <pc:docMk/>
            <pc:sldMk cId="0" sldId="256"/>
            <ac:spMk id="5" creationId="{00000000-0000-0000-0000-000000000000}"/>
          </ac:spMkLst>
        </pc:spChg>
        <pc:spChg chg="add mod">
          <ac:chgData name="ZAHRA J H F it23708280" userId="953ab806-b273-4734-a4a5-f280d6a00a94" providerId="ADAL" clId="{C5506FE8-8543-4E56-A6F9-CA9128C14B39}" dt="2026-05-03T09:41:21.999" v="16" actId="1076"/>
          <ac:spMkLst>
            <pc:docMk/>
            <pc:sldMk cId="0" sldId="256"/>
            <ac:spMk id="6" creationId="{356BD6B3-D457-F887-1839-349DC80E92A7}"/>
          </ac:spMkLst>
        </pc:spChg>
        <pc:spChg chg="add mod">
          <ac:chgData name="ZAHRA J H F it23708280" userId="953ab806-b273-4734-a4a5-f280d6a00a94" providerId="ADAL" clId="{C5506FE8-8543-4E56-A6F9-CA9128C14B39}" dt="2026-05-03T09:41:48.729" v="21" actId="14100"/>
          <ac:spMkLst>
            <pc:docMk/>
            <pc:sldMk cId="0" sldId="256"/>
            <ac:spMk id="7" creationId="{0C10B00D-5FC4-7A17-7F84-A4B647EDE2EB}"/>
          </ac:spMkLst>
        </pc:spChg>
      </pc:sldChg>
      <pc:sldChg chg="modSp mod">
        <pc:chgData name="ZAHRA J H F it23708280" userId="953ab806-b273-4734-a4a5-f280d6a00a94" providerId="ADAL" clId="{C5506FE8-8543-4E56-A6F9-CA9128C14B39}" dt="2026-04-29T09:35:10.831" v="4" actId="14100"/>
        <pc:sldMkLst>
          <pc:docMk/>
          <pc:sldMk cId="0" sldId="259"/>
        </pc:sldMkLst>
        <pc:spChg chg="mod">
          <ac:chgData name="ZAHRA J H F it23708280" userId="953ab806-b273-4734-a4a5-f280d6a00a94" providerId="ADAL" clId="{C5506FE8-8543-4E56-A6F9-CA9128C14B39}" dt="2026-04-29T09:34:50.359" v="2" actId="14100"/>
          <ac:spMkLst>
            <pc:docMk/>
            <pc:sldMk cId="0" sldId="259"/>
            <ac:spMk id="18" creationId="{00000000-0000-0000-0000-000000000000}"/>
          </ac:spMkLst>
        </pc:spChg>
        <pc:spChg chg="mod">
          <ac:chgData name="ZAHRA J H F it23708280" userId="953ab806-b273-4734-a4a5-f280d6a00a94" providerId="ADAL" clId="{C5506FE8-8543-4E56-A6F9-CA9128C14B39}" dt="2026-04-29T09:34:50.359" v="2" actId="14100"/>
          <ac:spMkLst>
            <pc:docMk/>
            <pc:sldMk cId="0" sldId="259"/>
            <ac:spMk id="19" creationId="{00000000-0000-0000-0000-000000000000}"/>
          </ac:spMkLst>
        </pc:spChg>
        <pc:spChg chg="mod">
          <ac:chgData name="ZAHRA J H F it23708280" userId="953ab806-b273-4734-a4a5-f280d6a00a94" providerId="ADAL" clId="{C5506FE8-8543-4E56-A6F9-CA9128C14B39}" dt="2026-04-29T09:34:50.359" v="2" actId="14100"/>
          <ac:spMkLst>
            <pc:docMk/>
            <pc:sldMk cId="0" sldId="259"/>
            <ac:spMk id="20" creationId="{00000000-0000-0000-0000-000000000000}"/>
          </ac:spMkLst>
        </pc:spChg>
        <pc:spChg chg="mod">
          <ac:chgData name="ZAHRA J H F it23708280" userId="953ab806-b273-4734-a4a5-f280d6a00a94" providerId="ADAL" clId="{C5506FE8-8543-4E56-A6F9-CA9128C14B39}" dt="2026-04-29T09:34:50.359" v="2" actId="14100"/>
          <ac:spMkLst>
            <pc:docMk/>
            <pc:sldMk cId="0" sldId="259"/>
            <ac:spMk id="21" creationId="{00000000-0000-0000-0000-000000000000}"/>
          </ac:spMkLst>
        </pc:spChg>
        <pc:spChg chg="mod">
          <ac:chgData name="ZAHRA J H F it23708280" userId="953ab806-b273-4734-a4a5-f280d6a00a94" providerId="ADAL" clId="{C5506FE8-8543-4E56-A6F9-CA9128C14B39}" dt="2026-04-29T09:35:10.831" v="4" actId="14100"/>
          <ac:spMkLst>
            <pc:docMk/>
            <pc:sldMk cId="0" sldId="259"/>
            <ac:spMk id="27" creationId="{00000000-0000-0000-0000-000000000000}"/>
          </ac:spMkLst>
        </pc:spChg>
      </pc:sldChg>
      <pc:sldChg chg="modSp mod">
        <pc:chgData name="ZAHRA J H F it23708280" userId="953ab806-b273-4734-a4a5-f280d6a00a94" providerId="ADAL" clId="{C5506FE8-8543-4E56-A6F9-CA9128C14B39}" dt="2026-04-29T09:35:25.594" v="6" actId="14100"/>
        <pc:sldMkLst>
          <pc:docMk/>
          <pc:sldMk cId="0" sldId="263"/>
        </pc:sldMkLst>
        <pc:spChg chg="mod">
          <ac:chgData name="ZAHRA J H F it23708280" userId="953ab806-b273-4734-a4a5-f280d6a00a94" providerId="ADAL" clId="{C5506FE8-8543-4E56-A6F9-CA9128C14B39}" dt="2026-04-29T09:35:25.594" v="6" actId="14100"/>
          <ac:spMkLst>
            <pc:docMk/>
            <pc:sldMk cId="0" sldId="263"/>
            <ac:spMk id="10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21691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FF7AEA-DC6D-649D-52FF-3B6549205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94673F-85FB-2C3A-15E2-26B769419D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3346E3-C6EE-EAAF-C531-7A9E7962CD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05C4DB-4F9E-A527-0B30-61F6A721B1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6813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2C3E6B"/>
          </a:solidFill>
          <a:ln w="12700">
            <a:solidFill>
              <a:srgbClr val="2C3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56032" y="0"/>
            <a:ext cx="8887968" cy="54864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85216" y="653796"/>
            <a:ext cx="8229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C3E6B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Do Students Who Reflect</a:t>
            </a:r>
            <a:endParaRPr lang="en-US" sz="3400" dirty="0">
              <a:latin typeface="Aptos" panose="020B0004020202020204" pitchFamily="34" charset="0"/>
            </a:endParaRPr>
          </a:p>
          <a:p>
            <a:pPr marL="0" indent="0" algn="l">
              <a:buNone/>
            </a:pPr>
            <a:r>
              <a:rPr lang="en-US" sz="3400" b="1" dirty="0">
                <a:solidFill>
                  <a:srgbClr val="2C3E6B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Learn More Deeply?</a:t>
            </a:r>
            <a:endParaRPr lang="en-US" sz="3400" dirty="0">
              <a:latin typeface="Aptos" panose="020B00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85216" y="2253996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A85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Statistical Investigation Using Descriptive, Inferential &amp; Predictive Analysis</a:t>
            </a:r>
            <a:endParaRPr lang="en-US" sz="1300" dirty="0">
              <a:latin typeface="Aptos" panose="020B00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2C3E6B"/>
          </a:solidFill>
          <a:ln w="12700">
            <a:solidFill>
              <a:srgbClr val="2C3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74320" y="4828032"/>
            <a:ext cx="8595360" cy="315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Problem Statement  •  Objectives  •  Data  •  Descriptive  •  Inferential  •  Predictive  •  Results  •  Conclusion</a:t>
            </a:r>
            <a:endParaRPr lang="en-US" sz="1000" dirty="0">
              <a:latin typeface="Aptos" panose="020B0004020202020204" pitchFamily="34" charset="0"/>
            </a:endParaRPr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356BD6B3-D457-F887-1839-349DC80E92A7}"/>
              </a:ext>
            </a:extLst>
          </p:cNvPr>
          <p:cNvSpPr/>
          <p:nvPr/>
        </p:nvSpPr>
        <p:spPr>
          <a:xfrm>
            <a:off x="585216" y="2643241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>
                <a:solidFill>
                  <a:srgbClr val="2C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Group: The Learning Loop</a:t>
            </a:r>
            <a:endParaRPr lang="en-US" sz="1200" dirty="0"/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0C10B00D-5FC4-7A17-7F84-A4B647EDE2EB}"/>
              </a:ext>
            </a:extLst>
          </p:cNvPr>
          <p:cNvSpPr/>
          <p:nvPr/>
        </p:nvSpPr>
        <p:spPr>
          <a:xfrm>
            <a:off x="585216" y="2906130"/>
            <a:ext cx="8229600" cy="793033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IT23708280 – J.H.F. Zahra     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IT23686588 – K.S. Hettiarachchi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IT23684430 – Nuhaz Ahameth M.R     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IT23663268 – E.A.D.K.C. Gunasekara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640080"/>
          </a:xfrm>
          <a:prstGeom prst="rect">
            <a:avLst/>
          </a:prstGeom>
          <a:solidFill>
            <a:srgbClr val="2C3E6B"/>
          </a:solidFill>
          <a:ln w="12700">
            <a:solidFill>
              <a:srgbClr val="2C3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C8D4EC"/>
          </a:solidFill>
          <a:ln w="12700">
            <a:solidFill>
              <a:srgbClr val="C8D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47472" y="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C3E6B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20040" y="777240"/>
            <a:ext cx="8503920" cy="640080"/>
          </a:xfrm>
          <a:prstGeom prst="rect">
            <a:avLst/>
          </a:prstGeom>
          <a:solidFill>
            <a:srgbClr val="2C3E6B"/>
          </a:solidFill>
          <a:ln w="12700">
            <a:solidFill>
              <a:srgbClr val="2C3E6B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77724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"Students who reflect on their learning demonstrate deeper understanding."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20040" y="1554480"/>
            <a:ext cx="850392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EC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0040" y="1554480"/>
            <a:ext cx="384048" cy="694944"/>
          </a:xfrm>
          <a:prstGeom prst="rect">
            <a:avLst/>
          </a:prstGeom>
          <a:solidFill>
            <a:srgbClr val="3B5BA5"/>
          </a:solidFill>
          <a:ln w="12700">
            <a:solidFill>
              <a:srgbClr val="3B5B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0040" y="1554480"/>
            <a:ext cx="384048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04672" y="1600200"/>
            <a:ext cx="78638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Can we prove using real student data and statistical methods that students who show reflective behaviours actually perform better academically?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20040" y="2359152"/>
            <a:ext cx="850392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EC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0040" y="2359152"/>
            <a:ext cx="384048" cy="694944"/>
          </a:xfrm>
          <a:prstGeom prst="rect">
            <a:avLst/>
          </a:prstGeom>
          <a:solidFill>
            <a:srgbClr val="3B5BA5"/>
          </a:solidFill>
          <a:ln w="12700">
            <a:solidFill>
              <a:srgbClr val="3B5B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0040" y="2359152"/>
            <a:ext cx="384048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04672" y="2404872"/>
            <a:ext cx="78638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Reflection cannot be measured directly from the dataset, so we use 5 behavioural indicators (reflection proxies) as indirect measures.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20040" y="3163824"/>
            <a:ext cx="850392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EC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20040" y="3163824"/>
            <a:ext cx="384048" cy="694944"/>
          </a:xfrm>
          <a:prstGeom prst="rect">
            <a:avLst/>
          </a:prstGeom>
          <a:solidFill>
            <a:srgbClr val="3B5BA5"/>
          </a:solidFill>
          <a:ln w="12700">
            <a:solidFill>
              <a:srgbClr val="3B5B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20040" y="3163824"/>
            <a:ext cx="384048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04672" y="3209544"/>
            <a:ext cx="78638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Academic understanding is measured using 2 outcome variables (understanding proxies) — Exam Score and Final Grade.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320040" y="4297680"/>
            <a:ext cx="8503920" cy="640080"/>
          </a:xfrm>
          <a:prstGeom prst="rect">
            <a:avLst/>
          </a:prstGeom>
          <a:solidFill>
            <a:srgbClr val="E8EEF8"/>
          </a:solidFill>
          <a:ln w="12700">
            <a:solidFill>
              <a:srgbClr val="C8D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20040" y="443484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3E6B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H₀: Reflection does NOT significantly affect deeper understanding   |   H₁: Reflection DOES significantly affect deeper understanding   α = 0.05</a:t>
            </a:r>
            <a:endParaRPr lang="en-US" sz="1100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640080"/>
          </a:xfrm>
          <a:prstGeom prst="rect">
            <a:avLst/>
          </a:prstGeom>
          <a:solidFill>
            <a:srgbClr val="2C3E6B"/>
          </a:solidFill>
          <a:ln w="12700">
            <a:solidFill>
              <a:srgbClr val="2C3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C8D4EC"/>
          </a:solidFill>
          <a:ln w="12700">
            <a:solidFill>
              <a:srgbClr val="C8D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47472" y="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C3E6B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92608" y="822960"/>
            <a:ext cx="2743200" cy="1847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EC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292608" y="822960"/>
            <a:ext cx="2743200" cy="384048"/>
          </a:xfrm>
          <a:prstGeom prst="rect">
            <a:avLst/>
          </a:prstGeom>
          <a:solidFill>
            <a:srgbClr val="2C3E6B"/>
          </a:solidFill>
          <a:ln w="12700">
            <a:solidFill>
              <a:srgbClr val="2C3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92608" y="822960"/>
            <a:ext cx="4389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>
              <a:latin typeface="Aptos" panose="020B00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31520" y="82296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Identify Proxies</a:t>
            </a:r>
            <a:endParaRPr lang="en-US" sz="1150" dirty="0">
              <a:latin typeface="Aptos" panose="020B00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20624" y="1261872"/>
            <a:ext cx="2487168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Select 5 reflection proxies (StudyHours, Attendance, Discussions, Motivation, AssignmentCompletion) and 2 understanding proxies (ExamScore, FinalGrade) from the dataset.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182112" y="822960"/>
            <a:ext cx="2743200" cy="1847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EC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182112" y="822960"/>
            <a:ext cx="2743200" cy="384048"/>
          </a:xfrm>
          <a:prstGeom prst="rect">
            <a:avLst/>
          </a:prstGeom>
          <a:solidFill>
            <a:srgbClr val="2A7F8F"/>
          </a:solidFill>
          <a:ln w="12700">
            <a:solidFill>
              <a:srgbClr val="2C3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182112" y="822960"/>
            <a:ext cx="4389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>
              <a:latin typeface="Aptos" panose="020B00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621024" y="82296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Descriptive Analysis</a:t>
            </a:r>
            <a:endParaRPr lang="en-US" sz="1150" dirty="0">
              <a:latin typeface="Aptos" panose="020B00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310128" y="1261872"/>
            <a:ext cx="2487168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Summarise and visualise the data using summary statistics, histograms, bar charts, box plots, and correlation tables to spot early patterns.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071616" y="822960"/>
            <a:ext cx="2743200" cy="1847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EC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071616" y="822960"/>
            <a:ext cx="2743200" cy="384048"/>
          </a:xfrm>
          <a:prstGeom prst="rect">
            <a:avLst/>
          </a:prstGeom>
          <a:solidFill>
            <a:srgbClr val="2C3E6B"/>
          </a:solidFill>
          <a:ln w="12700">
            <a:solidFill>
              <a:srgbClr val="2C3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071616" y="822960"/>
            <a:ext cx="4389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>
              <a:latin typeface="Aptos" panose="020B00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510528" y="82296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Inferential Analysis</a:t>
            </a:r>
            <a:endParaRPr lang="en-US" sz="1150" dirty="0">
              <a:latin typeface="Aptos" panose="020B00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199632" y="1261872"/>
            <a:ext cx="2487168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Statistically test whether the reflection proxies have a significant relationship with understanding proxies using Pearson, Spearman, T-test, and ANOVA.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292608" y="2834640"/>
            <a:ext cx="2743200" cy="1847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EC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92608" y="2834640"/>
            <a:ext cx="2743200" cy="384048"/>
          </a:xfrm>
          <a:prstGeom prst="rect">
            <a:avLst/>
          </a:prstGeom>
          <a:solidFill>
            <a:srgbClr val="2A7F8F"/>
          </a:solidFill>
          <a:ln w="12700">
            <a:solidFill>
              <a:srgbClr val="2C3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92608" y="2834640"/>
            <a:ext cx="4389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>
              <a:latin typeface="Aptos" panose="020B00040202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731520" y="283464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Predictive Analysis</a:t>
            </a:r>
            <a:endParaRPr lang="en-US" sz="1150" dirty="0">
              <a:latin typeface="Aptos" panose="020B000402020202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20624" y="3273552"/>
            <a:ext cx="2487168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Build Linear and Logistic regression models to assess whether reflection proxies can predict ExamScore and Pass/Fail outcomes.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3182112" y="2834640"/>
            <a:ext cx="2743200" cy="1847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EC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182112" y="2834640"/>
            <a:ext cx="2743200" cy="384048"/>
          </a:xfrm>
          <a:prstGeom prst="rect">
            <a:avLst/>
          </a:prstGeom>
          <a:solidFill>
            <a:srgbClr val="2C3E6B"/>
          </a:solidFill>
          <a:ln w="12700">
            <a:solidFill>
              <a:srgbClr val="2C3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182112" y="2834640"/>
            <a:ext cx="4389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>
              <a:latin typeface="Aptos" panose="020B0004020202020204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3621024" y="283464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Justify with Literature</a:t>
            </a:r>
            <a:endParaRPr lang="en-US" sz="1150" dirty="0">
              <a:latin typeface="Aptos" panose="020B0004020202020204" pitchFamily="34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3310128" y="3273552"/>
            <a:ext cx="2487168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Use findings from Lew &amp; Schmidt (2011) and Dahlgren (2020) to support or contextualise our statistical results.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6071616" y="2834640"/>
            <a:ext cx="2743200" cy="1847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EC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071616" y="2834640"/>
            <a:ext cx="2743200" cy="384048"/>
          </a:xfrm>
          <a:prstGeom prst="rect">
            <a:avLst/>
          </a:prstGeom>
          <a:solidFill>
            <a:srgbClr val="2A7F8F"/>
          </a:solidFill>
          <a:ln w="12700">
            <a:solidFill>
              <a:srgbClr val="2C3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071616" y="2834640"/>
            <a:ext cx="4389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>
              <a:latin typeface="Aptos" panose="020B0004020202020204" pitchFamily="34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6510528" y="283464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Draw Conclusion</a:t>
            </a:r>
            <a:endParaRPr lang="en-US" sz="1150" dirty="0">
              <a:latin typeface="Aptos" panose="020B0004020202020204" pitchFamily="34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6199632" y="3273552"/>
            <a:ext cx="2487168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Accept or reject H₀ based on combined evidence from all three stages of analysis</a:t>
            </a: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640080"/>
          </a:xfrm>
          <a:prstGeom prst="rect">
            <a:avLst/>
          </a:prstGeom>
          <a:solidFill>
            <a:srgbClr val="2C3E6B"/>
          </a:solidFill>
          <a:ln w="12700">
            <a:solidFill>
              <a:srgbClr val="2C3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C8D4EC"/>
          </a:solidFill>
          <a:ln w="12700">
            <a:solidFill>
              <a:srgbClr val="C8D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47472" y="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C3E6B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20040" y="777240"/>
            <a:ext cx="20116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2C3E6B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777240"/>
            <a:ext cx="2011680" cy="54864"/>
          </a:xfrm>
          <a:prstGeom prst="rect">
            <a:avLst/>
          </a:prstGeom>
          <a:solidFill>
            <a:srgbClr val="2C3E6B"/>
          </a:solidFill>
          <a:ln w="12700">
            <a:solidFill>
              <a:srgbClr val="2C3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" y="832104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C3E6B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14,003</a:t>
            </a:r>
            <a:endParaRPr lang="en-US" sz="2600" dirty="0">
              <a:latin typeface="Aptos" panose="020B00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20040" y="1501445"/>
            <a:ext cx="2011680" cy="3730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A85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Raw rows</a:t>
            </a:r>
            <a:endParaRPr lang="en-US" sz="1000" dirty="0">
              <a:latin typeface="Aptos" panose="020B00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423160" y="777240"/>
            <a:ext cx="20116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2A7F8F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423160" y="777240"/>
            <a:ext cx="2011680" cy="54864"/>
          </a:xfrm>
          <a:prstGeom prst="rect">
            <a:avLst/>
          </a:prstGeom>
          <a:solidFill>
            <a:srgbClr val="2A7F8F"/>
          </a:solidFill>
          <a:ln w="12700">
            <a:solidFill>
              <a:srgbClr val="2A7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423160" y="832104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A7F8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2600" dirty="0">
              <a:latin typeface="Aptos" panose="020B00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423160" y="1501445"/>
            <a:ext cx="2011680" cy="3730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A85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000" dirty="0">
              <a:latin typeface="Aptos" panose="020B00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526280" y="777240"/>
            <a:ext cx="20116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2C3E6B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26280" y="777240"/>
            <a:ext cx="2011680" cy="54864"/>
          </a:xfrm>
          <a:prstGeom prst="rect">
            <a:avLst/>
          </a:prstGeom>
          <a:solidFill>
            <a:srgbClr val="2C3E6B"/>
          </a:solidFill>
          <a:ln w="12700">
            <a:solidFill>
              <a:srgbClr val="2C3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26280" y="832104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C3E6B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7,813</a:t>
            </a:r>
            <a:endParaRPr lang="en-US" sz="2600" dirty="0">
              <a:latin typeface="Aptos" panose="020B00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526280" y="1501445"/>
            <a:ext cx="2011680" cy="3730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A85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Cleaned rows</a:t>
            </a:r>
            <a:endParaRPr lang="en-US" sz="1000" dirty="0">
              <a:latin typeface="Aptos" panose="020B000402020202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629400" y="777240"/>
            <a:ext cx="21031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2A7F8F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629400" y="777240"/>
            <a:ext cx="2103120" cy="54864"/>
          </a:xfrm>
          <a:prstGeom prst="rect">
            <a:avLst/>
          </a:prstGeom>
          <a:solidFill>
            <a:srgbClr val="2A7F8F"/>
          </a:solidFill>
          <a:ln w="12700">
            <a:solidFill>
              <a:srgbClr val="2A7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629400" y="832104"/>
            <a:ext cx="2103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A7F8F"/>
                </a:solidFill>
                <a:latin typeface="Aptos" panose="020B0004020202020204" pitchFamily="34" charset="0"/>
                <a:ea typeface="Calibri" pitchFamily="34" charset="-122"/>
                <a:cs typeface="Aparajita" panose="02020603050405020304" pitchFamily="18" charset="0"/>
              </a:rPr>
              <a:t>7</a:t>
            </a:r>
            <a:endParaRPr lang="en-US" sz="2600" dirty="0">
              <a:latin typeface="Aptos" panose="020B0004020202020204" pitchFamily="34" charset="0"/>
              <a:cs typeface="Aparajita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629400" y="1501445"/>
            <a:ext cx="2103120" cy="3730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A85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Selected columns</a:t>
            </a:r>
            <a:endParaRPr lang="en-US" sz="1000" dirty="0">
              <a:latin typeface="Aptos" panose="020B0004020202020204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320040" y="2011680"/>
            <a:ext cx="420624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EC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20040" y="2011680"/>
            <a:ext cx="4206240" cy="329184"/>
          </a:xfrm>
          <a:prstGeom prst="rect">
            <a:avLst/>
          </a:prstGeom>
          <a:solidFill>
            <a:srgbClr val="2C3E6B"/>
          </a:solidFill>
          <a:ln w="12700">
            <a:solidFill>
              <a:srgbClr val="2C3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11480" y="2011680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Reflection Proxies (Input Variables)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75488" y="2395728"/>
            <a:ext cx="3913632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D3748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StudyHours — hours spent studying</a:t>
            </a:r>
            <a:endParaRPr lang="en-US" sz="1150" dirty="0">
              <a:latin typeface="Aptos" panose="020B0004020202020204" pitchFamily="34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D3748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Attendance — attendance percentage (0–100)</a:t>
            </a:r>
            <a:endParaRPr lang="en-US" sz="1150" dirty="0">
              <a:latin typeface="Aptos" panose="020B0004020202020204" pitchFamily="34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D3748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Discussions — participated or not (0 or 1)</a:t>
            </a:r>
            <a:endParaRPr lang="en-US" sz="1150" dirty="0">
              <a:latin typeface="Aptos" panose="020B0004020202020204" pitchFamily="34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D3748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Motivation — motivation level (0, 1, or 2)</a:t>
            </a:r>
            <a:endParaRPr lang="en-US" sz="1150" dirty="0">
              <a:latin typeface="Aptos" panose="020B0004020202020204" pitchFamily="34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D3748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AssignmentCompletion — % of work completed</a:t>
            </a:r>
            <a:endParaRPr lang="en-US" sz="1150" dirty="0">
              <a:latin typeface="Aptos" panose="020B0004020202020204" pitchFamily="34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599432" y="2075688"/>
            <a:ext cx="411480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EC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617720" y="2011680"/>
            <a:ext cx="4078224" cy="329184"/>
          </a:xfrm>
          <a:prstGeom prst="rect">
            <a:avLst/>
          </a:prstGeom>
          <a:solidFill>
            <a:srgbClr val="2A7F8F"/>
          </a:solidFill>
          <a:ln w="12700">
            <a:solidFill>
              <a:srgbClr val="2A7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800600" y="2011680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Understanding Proxies (Output Variables)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4864608" y="2395728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D3748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ExamScore — score on the exam (40 to 100)</a:t>
            </a:r>
            <a:endParaRPr lang="en-US" sz="1150" dirty="0">
              <a:latin typeface="Aptos" panose="020B0004020202020204" pitchFamily="34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D3748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FinalGrade — overall grade category (0, 1, 2, or 3)</a:t>
            </a:r>
            <a:endParaRPr lang="en-US" sz="1150" dirty="0">
              <a:latin typeface="Aptos" panose="020B0004020202020204" pitchFamily="34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4864608" y="320040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A6A85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Grade 0 = highest (85–100)   </a:t>
            </a:r>
          </a:p>
          <a:p>
            <a:pPr marL="0" indent="0">
              <a:buNone/>
            </a:pPr>
            <a:r>
              <a:rPr lang="en-US" sz="1050" i="1" dirty="0">
                <a:solidFill>
                  <a:srgbClr val="5A6A85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Grade 1 = (70–84)</a:t>
            </a:r>
            <a:endParaRPr lang="en-US" sz="1050" dirty="0"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en-US" sz="1050" i="1" dirty="0">
                <a:solidFill>
                  <a:srgbClr val="5A6A85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Grade 2 = (55–69)   </a:t>
            </a:r>
          </a:p>
          <a:p>
            <a:pPr marL="0" indent="0">
              <a:buNone/>
            </a:pPr>
            <a:r>
              <a:rPr lang="en-US" sz="1050" i="1" dirty="0">
                <a:solidFill>
                  <a:srgbClr val="5A6A85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Grade 3 = lowest (40–54)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320040" y="4681728"/>
            <a:ext cx="8503920" cy="274320"/>
          </a:xfrm>
          <a:prstGeom prst="rect">
            <a:avLst/>
          </a:prstGeom>
          <a:solidFill>
            <a:srgbClr val="E8EEF8"/>
          </a:solidFill>
          <a:ln w="12700">
            <a:solidFill>
              <a:srgbClr val="E8E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29768" y="4681728"/>
            <a:ext cx="8284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C3E6B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Dataset: student_performance.csv   |   Source: Kaggle   |   Tool: R Studio</a:t>
            </a:r>
            <a:endParaRPr lang="en-US" sz="1050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640080"/>
          </a:xfrm>
          <a:prstGeom prst="rect">
            <a:avLst/>
          </a:prstGeom>
          <a:solidFill>
            <a:srgbClr val="2C3E6B"/>
          </a:solidFill>
          <a:ln w="12700">
            <a:solidFill>
              <a:srgbClr val="2C3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C8D4EC"/>
          </a:solidFill>
          <a:ln w="12700">
            <a:solidFill>
              <a:srgbClr val="C8D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47472" y="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C3E6B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20040" y="777240"/>
            <a:ext cx="2286000" cy="1097280"/>
          </a:xfrm>
          <a:prstGeom prst="rect">
            <a:avLst/>
          </a:prstGeom>
          <a:solidFill>
            <a:srgbClr val="2C3E6B"/>
          </a:solidFill>
          <a:ln w="12700">
            <a:solidFill>
              <a:srgbClr val="2C3E6B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777240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Raw Dataset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20040" y="1106424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14,003 rows</a:t>
            </a:r>
            <a:endParaRPr lang="en-US" sz="1700" dirty="0">
              <a:latin typeface="Aptos" panose="020B0004020202020204" pitchFamily="34" charset="0"/>
            </a:endParaRPr>
          </a:p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16 columns</a:t>
            </a:r>
            <a:endParaRPr lang="en-US" sz="1700" dirty="0">
              <a:latin typeface="Aptos" panose="020B00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2670048" y="100584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C3E6B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>
              <a:latin typeface="Aptos" panose="020B00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218688" y="777240"/>
            <a:ext cx="2286000" cy="1097280"/>
          </a:xfrm>
          <a:prstGeom prst="rect">
            <a:avLst/>
          </a:prstGeom>
          <a:solidFill>
            <a:srgbClr val="2A7F8F"/>
          </a:solidFill>
          <a:ln w="12700">
            <a:solidFill>
              <a:srgbClr val="2A7F8F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18688" y="777240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Cleaned Dataset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218688" y="1106424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7,813 rows</a:t>
            </a:r>
            <a:endParaRPr lang="en-US" sz="1700" dirty="0">
              <a:latin typeface="Aptos" panose="020B0004020202020204" pitchFamily="34" charset="0"/>
            </a:endParaRPr>
          </a:p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7 columns</a:t>
            </a:r>
            <a:endParaRPr lang="en-US" sz="1700" dirty="0">
              <a:latin typeface="Aptos" panose="020B00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715000" y="777240"/>
            <a:ext cx="31089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EC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715000" y="777240"/>
            <a:ext cx="3108960" cy="329184"/>
          </a:xfrm>
          <a:prstGeom prst="rect">
            <a:avLst/>
          </a:prstGeom>
          <a:solidFill>
            <a:srgbClr val="2C3E6B"/>
          </a:solidFill>
          <a:ln w="12700">
            <a:solidFill>
              <a:srgbClr val="2C3E6B"/>
            </a:solidFill>
            <a:prstDash val="solid"/>
          </a:ln>
        </p:spPr>
        <p:txBody>
          <a:bodyPr/>
          <a:lstStyle/>
          <a:p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715000" y="77724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Steps Performed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833872" y="1133856"/>
            <a:ext cx="2880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Checked dimensions, missing values,</a:t>
            </a:r>
            <a:endParaRPr lang="en-US" sz="1000" dirty="0"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impossible values, duplicates (2 rounds)</a:t>
            </a:r>
            <a:endParaRPr lang="en-US" sz="1000" dirty="0"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Converted FinalGrade to factor (4 levels)</a:t>
            </a:r>
            <a:endParaRPr lang="en-US" sz="1000" dirty="0">
              <a:latin typeface="Aptos" panose="020B0004020202020204" pitchFamily="34" charset="0"/>
            </a:endParaRPr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4294089"/>
              </p:ext>
            </p:extLst>
          </p:nvPr>
        </p:nvGraphicFramePr>
        <p:xfrm>
          <a:off x="320040" y="2011680"/>
          <a:ext cx="8503920" cy="283464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24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Check</a:t>
                      </a:r>
                      <a:endParaRPr lang="en-US" sz="110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Finding</a:t>
                      </a:r>
                      <a:endParaRPr lang="en-US" sz="110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Action Taken</a:t>
                      </a:r>
                      <a:endParaRPr lang="en-US" sz="110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Missing values</a:t>
                      </a:r>
                      <a:endParaRPr lang="en-US" sz="110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None found</a:t>
                      </a:r>
                      <a:endParaRPr lang="en-US" sz="110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No action needed</a:t>
                      </a:r>
                      <a:endParaRPr lang="en-US" sz="110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Impossible values</a:t>
                      </a:r>
                      <a:endParaRPr lang="en-US" sz="110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None found</a:t>
                      </a:r>
                      <a:endParaRPr lang="en-US" sz="110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No action needed</a:t>
                      </a:r>
                      <a:endParaRPr lang="en-US" sz="110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Duplicate rows</a:t>
                      </a:r>
                      <a:endParaRPr lang="en-US" sz="110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Found — removed in 2 rounds</a:t>
                      </a:r>
                      <a:endParaRPr lang="en-US" sz="110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Removed using distinct()</a:t>
                      </a:r>
                      <a:endParaRPr lang="en-US" sz="110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FinalGrade column</a:t>
                      </a:r>
                      <a:endParaRPr lang="en-US" sz="110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Stored as integer</a:t>
                      </a:r>
                      <a:endParaRPr lang="en-US" sz="110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Converted to factor (4 levels) — CSV doesn't preserve data type</a:t>
                      </a:r>
                      <a:endParaRPr lang="en-US" sz="110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Dataset size</a:t>
                      </a:r>
                      <a:endParaRPr lang="en-US" sz="110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14,003 rows, 16 cols → 7,813 rows, 7 cols</a:t>
                      </a:r>
                      <a:endParaRPr lang="en-US" sz="110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Subset + deduplicated</a:t>
                      </a:r>
                      <a:endParaRPr lang="en-US" sz="110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640080"/>
          </a:xfrm>
          <a:prstGeom prst="rect">
            <a:avLst/>
          </a:prstGeom>
          <a:solidFill>
            <a:srgbClr val="2C3E6B"/>
          </a:solidFill>
          <a:ln w="12700">
            <a:solidFill>
              <a:srgbClr val="2C3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C8D4EC"/>
          </a:solidFill>
          <a:ln w="12700">
            <a:solidFill>
              <a:srgbClr val="C8D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47472" y="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C3E6B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Descriptive Analysis</a:t>
            </a: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20040" y="777240"/>
            <a:ext cx="8503920" cy="292608"/>
          </a:xfrm>
          <a:prstGeom prst="rect">
            <a:avLst/>
          </a:prstGeom>
          <a:solidFill>
            <a:srgbClr val="E8EEF8"/>
          </a:solidFill>
          <a:ln w="12700">
            <a:solidFill>
              <a:srgbClr val="E8E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29768" y="777240"/>
            <a:ext cx="82844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C3E6B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Summary stats: StudyHours mean 20.03  |  Attendance mean 80.11  |  AssignmentCompletion mean 74.55  |  ExamScore mean 70.37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20040" y="1170432"/>
            <a:ext cx="4206240" cy="383590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EC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0040" y="1170432"/>
            <a:ext cx="4206240" cy="301752"/>
          </a:xfrm>
          <a:prstGeom prst="rect">
            <a:avLst/>
          </a:prstGeom>
          <a:solidFill>
            <a:srgbClr val="2C3E6B"/>
          </a:solidFill>
          <a:ln w="12700">
            <a:solidFill>
              <a:srgbClr val="2C3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1480" y="1170432"/>
            <a:ext cx="4023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Histogram — ExamScore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11480" y="2180082"/>
            <a:ext cx="3909060" cy="2681478"/>
          </a:xfrm>
          <a:prstGeom prst="rect">
            <a:avLst/>
          </a:prstGeom>
          <a:solidFill>
            <a:srgbClr val="EEF2F9"/>
          </a:solidFill>
          <a:ln w="12700">
            <a:solidFill>
              <a:srgbClr val="C8D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11480" y="1517904"/>
            <a:ext cx="400507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Scores spread evenly from 40–100. No clustering. Approximately uniform distribution across all students.</a:t>
            </a:r>
            <a:endParaRPr lang="en-US" sz="1000" dirty="0">
              <a:latin typeface="Aptos" panose="020B00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29768" y="1884426"/>
            <a:ext cx="2176272" cy="295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2A7F8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Shows how the scores are spread</a:t>
            </a:r>
            <a:endParaRPr lang="en-US" sz="950" dirty="0">
              <a:latin typeface="Aptos" panose="020B0004020202020204" pitchFamily="34" charset="0"/>
            </a:endParaRP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1A63FBD1-42CE-C0F9-99BC-E77B8275BEB7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411481" y="2118360"/>
            <a:ext cx="4023360" cy="2827020"/>
          </a:xfrm>
          <a:prstGeom prst="rect">
            <a:avLst/>
          </a:prstGeom>
        </p:spPr>
      </p:pic>
      <p:sp>
        <p:nvSpPr>
          <p:cNvPr id="38" name="Shape 13">
            <a:extLst>
              <a:ext uri="{FF2B5EF4-FFF2-40B4-BE49-F238E27FC236}">
                <a16:creationId xmlns:a16="http://schemas.microsoft.com/office/drawing/2014/main" id="{2010478A-C9AF-A9B8-59D0-32F841337385}"/>
              </a:ext>
            </a:extLst>
          </p:cNvPr>
          <p:cNvSpPr/>
          <p:nvPr/>
        </p:nvSpPr>
        <p:spPr>
          <a:xfrm>
            <a:off x="4709160" y="1170432"/>
            <a:ext cx="4206240" cy="383590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EC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14">
            <a:extLst>
              <a:ext uri="{FF2B5EF4-FFF2-40B4-BE49-F238E27FC236}">
                <a16:creationId xmlns:a16="http://schemas.microsoft.com/office/drawing/2014/main" id="{1AAFA1A8-8F58-2F56-FFD5-0EBC0AB4A099}"/>
              </a:ext>
            </a:extLst>
          </p:cNvPr>
          <p:cNvSpPr/>
          <p:nvPr/>
        </p:nvSpPr>
        <p:spPr>
          <a:xfrm>
            <a:off x="4709160" y="1170432"/>
            <a:ext cx="4206240" cy="301752"/>
          </a:xfrm>
          <a:prstGeom prst="rect">
            <a:avLst/>
          </a:prstGeom>
          <a:solidFill>
            <a:srgbClr val="2A7F8F"/>
          </a:solidFill>
          <a:ln w="12700">
            <a:solidFill>
              <a:srgbClr val="2A7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15">
            <a:extLst>
              <a:ext uri="{FF2B5EF4-FFF2-40B4-BE49-F238E27FC236}">
                <a16:creationId xmlns:a16="http://schemas.microsoft.com/office/drawing/2014/main" id="{9F318BFE-B92C-C3BA-EC49-482A7C4A4A8A}"/>
              </a:ext>
            </a:extLst>
          </p:cNvPr>
          <p:cNvSpPr/>
          <p:nvPr/>
        </p:nvSpPr>
        <p:spPr>
          <a:xfrm>
            <a:off x="4800600" y="1170432"/>
            <a:ext cx="4023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Bar Chart — Mean Score by Discussions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43" name="Text 18">
            <a:extLst>
              <a:ext uri="{FF2B5EF4-FFF2-40B4-BE49-F238E27FC236}">
                <a16:creationId xmlns:a16="http://schemas.microsoft.com/office/drawing/2014/main" id="{B6BA2FED-1C65-A049-874B-17799E977740}"/>
              </a:ext>
            </a:extLst>
          </p:cNvPr>
          <p:cNvSpPr/>
          <p:nvPr/>
        </p:nvSpPr>
        <p:spPr>
          <a:xfrm>
            <a:off x="4709160" y="1495806"/>
            <a:ext cx="3429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No participation: 70.96 avg. Participated: 69.99 avg.</a:t>
            </a:r>
            <a:endParaRPr lang="en-US" sz="1000" dirty="0"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Difference &lt; 1 mark — no meaningful impact.</a:t>
            </a:r>
            <a:endParaRPr lang="en-US" sz="1000" dirty="0">
              <a:latin typeface="Aptos" panose="020B0004020202020204" pitchFamily="34" charset="0"/>
            </a:endParaRPr>
          </a:p>
        </p:txBody>
      </p:sp>
      <p:sp>
        <p:nvSpPr>
          <p:cNvPr id="44" name="Text 19">
            <a:extLst>
              <a:ext uri="{FF2B5EF4-FFF2-40B4-BE49-F238E27FC236}">
                <a16:creationId xmlns:a16="http://schemas.microsoft.com/office/drawing/2014/main" id="{C080DA5F-D9B2-6BBE-17D3-906871BAF7C7}"/>
              </a:ext>
            </a:extLst>
          </p:cNvPr>
          <p:cNvSpPr/>
          <p:nvPr/>
        </p:nvSpPr>
        <p:spPr>
          <a:xfrm>
            <a:off x="4709160" y="1887474"/>
            <a:ext cx="2176272" cy="2308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2A7F8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Shows comparison between 2 groups</a:t>
            </a:r>
            <a:endParaRPr lang="en-US" sz="950" dirty="0">
              <a:latin typeface="Aptos" panose="020B0004020202020204" pitchFamily="34" charset="0"/>
            </a:endParaRP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DFCDA6C9-124E-D9BB-66CA-3FF3BDCAB089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4713732" y="2118360"/>
            <a:ext cx="4201668" cy="284175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317E60-A33B-520C-3D28-1A9F56BC0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1F25799-409C-4D34-9D53-220E4FB34184}"/>
              </a:ext>
            </a:extLst>
          </p:cNvPr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A25028D-5A3B-2633-693B-4FD13E828B8C}"/>
              </a:ext>
            </a:extLst>
          </p:cNvPr>
          <p:cNvSpPr/>
          <p:nvPr/>
        </p:nvSpPr>
        <p:spPr>
          <a:xfrm>
            <a:off x="0" y="0"/>
            <a:ext cx="201168" cy="640080"/>
          </a:xfrm>
          <a:prstGeom prst="rect">
            <a:avLst/>
          </a:prstGeom>
          <a:solidFill>
            <a:srgbClr val="2C3E6B"/>
          </a:solidFill>
          <a:ln w="12700">
            <a:solidFill>
              <a:srgbClr val="2C3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11D01C4-8B72-5DAF-2A6E-CF00E8DB547A}"/>
              </a:ext>
            </a:extLst>
          </p:cNvPr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C8D4EC"/>
          </a:solidFill>
          <a:ln w="12700">
            <a:solidFill>
              <a:srgbClr val="C8D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F77FBC0-0985-F312-4AD9-859A61708C63}"/>
              </a:ext>
            </a:extLst>
          </p:cNvPr>
          <p:cNvSpPr/>
          <p:nvPr/>
        </p:nvSpPr>
        <p:spPr>
          <a:xfrm>
            <a:off x="347472" y="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C3E6B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Descriptive Analysis</a:t>
            </a: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478ACB82-57BC-44CA-112A-D0A19F232F1A}"/>
              </a:ext>
            </a:extLst>
          </p:cNvPr>
          <p:cNvSpPr/>
          <p:nvPr/>
        </p:nvSpPr>
        <p:spPr>
          <a:xfrm>
            <a:off x="320040" y="777240"/>
            <a:ext cx="8503920" cy="292608"/>
          </a:xfrm>
          <a:prstGeom prst="rect">
            <a:avLst/>
          </a:prstGeom>
          <a:solidFill>
            <a:srgbClr val="E8EEF8"/>
          </a:solidFill>
          <a:ln w="12700">
            <a:solidFill>
              <a:srgbClr val="E8E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D2BCCF5-FA47-8FAD-C5B6-FA2D46A5F3EC}"/>
              </a:ext>
            </a:extLst>
          </p:cNvPr>
          <p:cNvSpPr/>
          <p:nvPr/>
        </p:nvSpPr>
        <p:spPr>
          <a:xfrm>
            <a:off x="429768" y="777240"/>
            <a:ext cx="82844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C3E6B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Summary stats: StudyHours mean 20.03  |  Attendance mean 80.11  |  AssignmentCompletion mean 74.55  |  ExamScore mean 70.37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1DBB5FD5-D52E-5A7A-A400-DF75FA92FC34}"/>
              </a:ext>
            </a:extLst>
          </p:cNvPr>
          <p:cNvSpPr/>
          <p:nvPr/>
        </p:nvSpPr>
        <p:spPr>
          <a:xfrm>
            <a:off x="320040" y="1165860"/>
            <a:ext cx="4206240" cy="392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EC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1F0CA489-B38D-AE2C-01F1-19469754E9CA}"/>
              </a:ext>
            </a:extLst>
          </p:cNvPr>
          <p:cNvSpPr/>
          <p:nvPr/>
        </p:nvSpPr>
        <p:spPr>
          <a:xfrm>
            <a:off x="320040" y="1165860"/>
            <a:ext cx="4206240" cy="301752"/>
          </a:xfrm>
          <a:prstGeom prst="rect">
            <a:avLst/>
          </a:prstGeom>
          <a:solidFill>
            <a:srgbClr val="2C3E6B"/>
          </a:solidFill>
          <a:ln w="12700">
            <a:solidFill>
              <a:srgbClr val="2C3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C73DBE22-970C-6874-790D-3D1812BEDA7F}"/>
              </a:ext>
            </a:extLst>
          </p:cNvPr>
          <p:cNvSpPr/>
          <p:nvPr/>
        </p:nvSpPr>
        <p:spPr>
          <a:xfrm>
            <a:off x="411480" y="1165860"/>
            <a:ext cx="4023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Box Plot — ExamScore by FinalGrade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22BE08F1-779E-D96B-EDFD-4B1E14636F7F}"/>
              </a:ext>
            </a:extLst>
          </p:cNvPr>
          <p:cNvSpPr/>
          <p:nvPr/>
        </p:nvSpPr>
        <p:spPr>
          <a:xfrm>
            <a:off x="347472" y="1467612"/>
            <a:ext cx="408736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2D3748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Clear separation: 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Grade 0 median 92, Grade 1: 77, Grade 2: 62, Grade 3: 47. 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~15 mark gap each level.</a:t>
            </a:r>
            <a:endParaRPr lang="en-US" sz="1000" dirty="0">
              <a:latin typeface="Aptos" panose="020B0004020202020204" pitchFamily="34" charset="0"/>
            </a:endParaRPr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107EEC44-3BD5-334C-2A2F-2117E1656505}"/>
              </a:ext>
            </a:extLst>
          </p:cNvPr>
          <p:cNvSpPr/>
          <p:nvPr/>
        </p:nvSpPr>
        <p:spPr>
          <a:xfrm>
            <a:off x="347472" y="2018536"/>
            <a:ext cx="2176272" cy="43281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2A7F8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Shows whether grade categories score differently on exams</a:t>
            </a:r>
            <a:endParaRPr lang="en-US" sz="950" dirty="0">
              <a:latin typeface="Aptos" panose="020B0004020202020204" pitchFamily="34" charset="0"/>
            </a:endParaRPr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DEA57345-2FDD-C9A3-0025-08AB8777BDA1}"/>
              </a:ext>
            </a:extLst>
          </p:cNvPr>
          <p:cNvSpPr/>
          <p:nvPr/>
        </p:nvSpPr>
        <p:spPr>
          <a:xfrm>
            <a:off x="4709160" y="1165860"/>
            <a:ext cx="4206240" cy="392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EC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71E2369B-FAB8-6D27-F07A-6C75F9E5FAAE}"/>
              </a:ext>
            </a:extLst>
          </p:cNvPr>
          <p:cNvSpPr/>
          <p:nvPr/>
        </p:nvSpPr>
        <p:spPr>
          <a:xfrm>
            <a:off x="4709160" y="1165860"/>
            <a:ext cx="4206240" cy="301752"/>
          </a:xfrm>
          <a:prstGeom prst="rect">
            <a:avLst/>
          </a:prstGeom>
          <a:solidFill>
            <a:srgbClr val="2A7F8F"/>
          </a:solidFill>
          <a:ln w="12700">
            <a:solidFill>
              <a:srgbClr val="2A7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A3CE5D43-F713-C941-0EEB-438D985C8DB1}"/>
              </a:ext>
            </a:extLst>
          </p:cNvPr>
          <p:cNvSpPr/>
          <p:nvPr/>
        </p:nvSpPr>
        <p:spPr>
          <a:xfrm>
            <a:off x="4800600" y="1165860"/>
            <a:ext cx="4023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Correlation Table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600019A5-F2E6-C4F1-83D1-4A70725622BE}"/>
              </a:ext>
            </a:extLst>
          </p:cNvPr>
          <p:cNvSpPr/>
          <p:nvPr/>
        </p:nvSpPr>
        <p:spPr>
          <a:xfrm>
            <a:off x="4709160" y="1508760"/>
            <a:ext cx="36195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All correlations near 0. 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Strongest: Attendance &amp; StudyHours (0.034). 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No strong linear relationships.</a:t>
            </a:r>
            <a:endParaRPr lang="en-US" sz="1000" dirty="0">
              <a:latin typeface="Aptos" panose="020B0004020202020204" pitchFamily="34" charset="0"/>
            </a:endParaRPr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2900D590-49B8-9940-22F7-062043D4BF94}"/>
              </a:ext>
            </a:extLst>
          </p:cNvPr>
          <p:cNvSpPr/>
          <p:nvPr/>
        </p:nvSpPr>
        <p:spPr>
          <a:xfrm>
            <a:off x="4739640" y="2016252"/>
            <a:ext cx="21762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2A7F8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Shows relationships between all variable pairs</a:t>
            </a:r>
            <a:endParaRPr lang="en-US" sz="950" dirty="0">
              <a:latin typeface="Aptos" panose="020B0004020202020204" pitchFamily="34" charset="0"/>
            </a:endParaRP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B1D3D39D-A025-F96F-7510-7C32D2CFC30E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343154" y="2451353"/>
            <a:ext cx="4183126" cy="2644713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CDBAB847-B80B-A068-769C-9EAEFC52C4D3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4709160" y="2382012"/>
            <a:ext cx="4183126" cy="2670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9058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640080"/>
          </a:xfrm>
          <a:prstGeom prst="rect">
            <a:avLst/>
          </a:prstGeom>
          <a:solidFill>
            <a:srgbClr val="2C3E6B"/>
          </a:solidFill>
          <a:ln w="12700">
            <a:solidFill>
              <a:srgbClr val="2C3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C8D4EC"/>
          </a:solidFill>
          <a:ln w="12700">
            <a:solidFill>
              <a:srgbClr val="C8D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47472" y="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C3E6B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Inferential Analysis   |   α = 0.05  →  Reject H₀ if p-value &lt; 0.05</a:t>
            </a: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4023360" cy="301752"/>
          </a:xfrm>
          <a:prstGeom prst="rect">
            <a:avLst/>
          </a:prstGeom>
          <a:solidFill>
            <a:srgbClr val="2C3E6B"/>
          </a:solidFill>
          <a:ln w="12700">
            <a:solidFill>
              <a:srgbClr val="2C3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777240"/>
            <a:ext cx="4023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Pearson Correlation vs ExamScore</a:t>
            </a:r>
            <a:endParaRPr lang="en-US" sz="1050" dirty="0">
              <a:latin typeface="Aptos" panose="020B0004020202020204" pitchFamily="34" charset="0"/>
            </a:endParaRPr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6980437"/>
              </p:ext>
            </p:extLst>
          </p:nvPr>
        </p:nvGraphicFramePr>
        <p:xfrm>
          <a:off x="274320" y="1097280"/>
          <a:ext cx="4023360" cy="169164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19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Proxy</a:t>
                      </a:r>
                      <a:endParaRPr lang="en-US" sz="105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B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r value</a:t>
                      </a:r>
                      <a:endParaRPr lang="en-US" sz="105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B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p-value</a:t>
                      </a:r>
                      <a:endParaRPr lang="en-US" sz="105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B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Decision</a:t>
                      </a:r>
                      <a:endParaRPr lang="en-US" sz="105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B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StudyHours</a:t>
                      </a:r>
                      <a:endParaRPr lang="en-US" sz="105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0.0015</a:t>
                      </a:r>
                      <a:endParaRPr lang="en-US" sz="105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0.894</a:t>
                      </a:r>
                      <a:endParaRPr lang="en-US" sz="105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Do not reject H₀</a:t>
                      </a:r>
                      <a:endParaRPr lang="en-US" sz="105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Attendance</a:t>
                      </a:r>
                      <a:endParaRPr lang="en-US" sz="105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-0.0127</a:t>
                      </a:r>
                      <a:endParaRPr lang="en-US" sz="105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0.261</a:t>
                      </a:r>
                      <a:endParaRPr lang="en-US" sz="105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Do not reject H₀</a:t>
                      </a:r>
                      <a:endParaRPr lang="en-US" sz="105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C0392B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Discussions</a:t>
                      </a:r>
                      <a:endParaRPr lang="en-US" sz="105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C0392B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-0.0268</a:t>
                      </a:r>
                      <a:endParaRPr lang="en-US" sz="105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C0392B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0.018 ✓</a:t>
                      </a:r>
                      <a:endParaRPr lang="en-US" sz="105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C0392B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Reject H₀</a:t>
                      </a:r>
                      <a:endParaRPr lang="en-US" sz="105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Motivation</a:t>
                      </a:r>
                      <a:endParaRPr lang="en-US" sz="105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-0.0055</a:t>
                      </a:r>
                      <a:endParaRPr lang="en-US" sz="105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0.628</a:t>
                      </a:r>
                      <a:endParaRPr lang="en-US" sz="105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Do not reject H₀</a:t>
                      </a:r>
                      <a:endParaRPr lang="en-US" sz="105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AssignCompl</a:t>
                      </a:r>
                      <a:endParaRPr lang="en-US" sz="105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0.0183</a:t>
                      </a:r>
                      <a:endParaRPr lang="en-US" sz="105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0.107</a:t>
                      </a:r>
                      <a:endParaRPr lang="en-US" sz="105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Do not reject H₀</a:t>
                      </a:r>
                      <a:endParaRPr lang="en-US" sz="105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572000" y="777240"/>
            <a:ext cx="4251960" cy="301752"/>
          </a:xfrm>
          <a:prstGeom prst="rect">
            <a:avLst/>
          </a:prstGeom>
          <a:solidFill>
            <a:srgbClr val="2A7F8F"/>
          </a:solidFill>
          <a:ln w="12700">
            <a:solidFill>
              <a:srgbClr val="2A7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572000" y="777240"/>
            <a:ext cx="4251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Spearman Correlation vs FinalGrade (ordinal — Pearson invalid)</a:t>
            </a:r>
            <a:endParaRPr lang="en-US" sz="1000" dirty="0">
              <a:latin typeface="Aptos" panose="020B0004020202020204" pitchFamily="34" charset="0"/>
            </a:endParaRPr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3022823"/>
              </p:ext>
            </p:extLst>
          </p:nvPr>
        </p:nvGraphicFramePr>
        <p:xfrm>
          <a:off x="4572000" y="1097280"/>
          <a:ext cx="4251960" cy="169164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19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Proxy</a:t>
                      </a:r>
                      <a:endParaRPr lang="en-US" sz="105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7F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rho</a:t>
                      </a:r>
                      <a:endParaRPr lang="en-US" sz="105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7F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p-value</a:t>
                      </a:r>
                      <a:endParaRPr lang="en-US" sz="105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7F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Decision</a:t>
                      </a:r>
                      <a:endParaRPr lang="en-US" sz="105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7F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StudyHours</a:t>
                      </a:r>
                      <a:endParaRPr lang="en-US" sz="105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-0.0051</a:t>
                      </a:r>
                      <a:endParaRPr lang="en-US" sz="105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0.649</a:t>
                      </a:r>
                      <a:endParaRPr lang="en-US" sz="105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Do not reject H₀</a:t>
                      </a:r>
                      <a:endParaRPr lang="en-US" sz="105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Attendance</a:t>
                      </a:r>
                      <a:endParaRPr lang="en-US" sz="105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0.0105</a:t>
                      </a:r>
                      <a:endParaRPr lang="en-US" sz="105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0.355</a:t>
                      </a:r>
                      <a:endParaRPr lang="en-US" sz="105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Do not reject H₀</a:t>
                      </a:r>
                      <a:endParaRPr lang="en-US" sz="105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C0392B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Discussions</a:t>
                      </a:r>
                      <a:endParaRPr lang="en-US" sz="105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C0392B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0.0343</a:t>
                      </a:r>
                      <a:endParaRPr lang="en-US" sz="105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C0392B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0.002 ✓</a:t>
                      </a:r>
                      <a:endParaRPr lang="en-US" sz="105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C0392B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Reject H₀</a:t>
                      </a:r>
                      <a:endParaRPr lang="en-US" sz="105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Motivation</a:t>
                      </a:r>
                      <a:endParaRPr lang="en-US" sz="105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0.0056</a:t>
                      </a:r>
                      <a:endParaRPr lang="en-US" sz="105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0.619</a:t>
                      </a:r>
                      <a:endParaRPr lang="en-US" sz="105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Do not reject H₀</a:t>
                      </a:r>
                      <a:endParaRPr lang="en-US" sz="105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AssignCompl</a:t>
                      </a:r>
                      <a:endParaRPr lang="en-US" sz="105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-0.0201</a:t>
                      </a:r>
                      <a:endParaRPr lang="en-US" sz="105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0.075</a:t>
                      </a:r>
                      <a:endParaRPr lang="en-US" sz="105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Do not reject H₀</a:t>
                      </a:r>
                      <a:endParaRPr lang="en-US" sz="105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274320" y="2880360"/>
            <a:ext cx="4023360" cy="274320"/>
          </a:xfrm>
          <a:prstGeom prst="rect">
            <a:avLst/>
          </a:prstGeom>
          <a:solidFill>
            <a:srgbClr val="2C3E6B"/>
          </a:solidFill>
          <a:ln w="12700">
            <a:solidFill>
              <a:srgbClr val="2C3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274320" y="28803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T-Test — ExamScore by Discussions (only binary proxy)</a:t>
            </a:r>
            <a:endParaRPr lang="en-US" sz="1000" dirty="0">
              <a:latin typeface="Aptos" panose="020B0004020202020204" pitchFamily="34" charset="0"/>
            </a:endParaRPr>
          </a:p>
        </p:txBody>
      </p:sp>
      <p:graphicFrame>
        <p:nvGraphicFramePr>
          <p:cNvPr id="2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6897826"/>
              </p:ext>
            </p:extLst>
          </p:nvPr>
        </p:nvGraphicFramePr>
        <p:xfrm>
          <a:off x="274320" y="3172968"/>
          <a:ext cx="4023360" cy="106680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Group</a:t>
                      </a:r>
                      <a:endParaRPr lang="en-US" sz="105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B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Mean</a:t>
                      </a:r>
                      <a:endParaRPr lang="en-US" sz="105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B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t / p-value</a:t>
                      </a:r>
                      <a:endParaRPr lang="en-US" sz="105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B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Decision</a:t>
                      </a:r>
                      <a:endParaRPr lang="en-US" sz="105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B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Discussions = 0 (No)</a:t>
                      </a:r>
                      <a:endParaRPr lang="en-US" sz="105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70.96</a:t>
                      </a:r>
                      <a:endParaRPr lang="en-US" sz="105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t=2.365 / p=0.018</a:t>
                      </a:r>
                      <a:endParaRPr lang="en-US" sz="105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C0392B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Reject H₀</a:t>
                      </a:r>
                      <a:endParaRPr lang="en-US" sz="105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Discussions = 1 (Yes)</a:t>
                      </a:r>
                      <a:endParaRPr lang="en-US" sz="105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69.99</a:t>
                      </a:r>
                      <a:endParaRPr lang="en-US" sz="105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t=2.365 / p=0.018</a:t>
                      </a:r>
                      <a:endParaRPr lang="en-US" sz="105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C0392B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Reject H₀</a:t>
                      </a:r>
                      <a:endParaRPr lang="en-US" sz="105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Shape 10"/>
          <p:cNvSpPr/>
          <p:nvPr/>
        </p:nvSpPr>
        <p:spPr>
          <a:xfrm>
            <a:off x="274320" y="4366260"/>
            <a:ext cx="4023360" cy="320040"/>
          </a:xfrm>
          <a:prstGeom prst="rect">
            <a:avLst/>
          </a:prstGeom>
          <a:solidFill>
            <a:srgbClr val="E8EEF8"/>
          </a:solidFill>
          <a:ln w="12700">
            <a:solidFill>
              <a:srgbClr val="E8E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1"/>
          <p:cNvSpPr/>
          <p:nvPr/>
        </p:nvSpPr>
        <p:spPr>
          <a:xfrm>
            <a:off x="347472" y="4366260"/>
            <a:ext cx="38039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C3E6B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Significant (p=0.018 &lt; 0.05) but difference &lt; 1 mark — statistically real, practically meaningless.</a:t>
            </a:r>
            <a:endParaRPr lang="en-US" sz="1000" dirty="0">
              <a:latin typeface="Aptos" panose="020B0004020202020204" pitchFamily="34" charset="0"/>
            </a:endParaRPr>
          </a:p>
        </p:txBody>
      </p:sp>
      <p:sp>
        <p:nvSpPr>
          <p:cNvPr id="17" name="Shape 12"/>
          <p:cNvSpPr/>
          <p:nvPr/>
        </p:nvSpPr>
        <p:spPr>
          <a:xfrm>
            <a:off x="4572000" y="2880360"/>
            <a:ext cx="4251960" cy="274320"/>
          </a:xfrm>
          <a:prstGeom prst="rect">
            <a:avLst/>
          </a:prstGeom>
          <a:solidFill>
            <a:srgbClr val="2A7F8F"/>
          </a:solidFill>
          <a:ln w="12700">
            <a:solidFill>
              <a:srgbClr val="2A7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3"/>
          <p:cNvSpPr/>
          <p:nvPr/>
        </p:nvSpPr>
        <p:spPr>
          <a:xfrm>
            <a:off x="4572000" y="2880360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One-Way ANOVA + Post-Hoc — ExamScore by FinalGrade (4 groups)</a:t>
            </a:r>
            <a:endParaRPr lang="en-US" sz="1000" dirty="0">
              <a:latin typeface="Aptos" panose="020B0004020202020204" pitchFamily="34" charset="0"/>
            </a:endParaRPr>
          </a:p>
        </p:txBody>
      </p:sp>
      <p:graphicFrame>
        <p:nvGraphicFramePr>
          <p:cNvPr id="29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2405971"/>
              </p:ext>
            </p:extLst>
          </p:nvPr>
        </p:nvGraphicFramePr>
        <p:xfrm>
          <a:off x="4572000" y="3172968"/>
          <a:ext cx="4251960" cy="749808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99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05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7F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df</a:t>
                      </a:r>
                      <a:endParaRPr lang="en-US" sz="105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7F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F value</a:t>
                      </a:r>
                      <a:endParaRPr lang="en-US" sz="105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7F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p-value</a:t>
                      </a:r>
                      <a:endParaRPr lang="en-US" sz="105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7F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99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FinalGrade (Between)</a:t>
                      </a:r>
                      <a:endParaRPr lang="en-US" sz="105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38,843</a:t>
                      </a:r>
                      <a:endParaRPr lang="en-US" sz="105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C0392B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&lt; 0.001 ***</a:t>
                      </a:r>
                      <a:endParaRPr lang="en-US" sz="105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99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Residuals (Within)</a:t>
                      </a:r>
                      <a:endParaRPr lang="en-US" sz="105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7,809</a:t>
                      </a:r>
                      <a:endParaRPr lang="en-US" sz="105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0" name="Shape 14"/>
          <p:cNvSpPr/>
          <p:nvPr/>
        </p:nvSpPr>
        <p:spPr>
          <a:xfrm>
            <a:off x="4572000" y="3986784"/>
            <a:ext cx="2011680" cy="402336"/>
          </a:xfrm>
          <a:prstGeom prst="rect">
            <a:avLst/>
          </a:prstGeom>
          <a:solidFill>
            <a:srgbClr val="2C3E6B"/>
          </a:solidFill>
          <a:ln w="12700">
            <a:solidFill>
              <a:srgbClr val="2C3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5"/>
          <p:cNvSpPr/>
          <p:nvPr/>
        </p:nvSpPr>
        <p:spPr>
          <a:xfrm>
            <a:off x="4572000" y="3986784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Grade 1 vs 0: −15.4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14" name="Shape 16"/>
          <p:cNvSpPr/>
          <p:nvPr/>
        </p:nvSpPr>
        <p:spPr>
          <a:xfrm>
            <a:off x="6748272" y="3986784"/>
            <a:ext cx="2011680" cy="402336"/>
          </a:xfrm>
          <a:prstGeom prst="rect">
            <a:avLst/>
          </a:prstGeom>
          <a:solidFill>
            <a:srgbClr val="2C3E6B"/>
          </a:solidFill>
          <a:ln w="12700">
            <a:solidFill>
              <a:srgbClr val="2C3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7"/>
          <p:cNvSpPr/>
          <p:nvPr/>
        </p:nvSpPr>
        <p:spPr>
          <a:xfrm>
            <a:off x="6748272" y="3986784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Grade 2 vs 0: −30.6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24" name="Shape 18"/>
          <p:cNvSpPr/>
          <p:nvPr/>
        </p:nvSpPr>
        <p:spPr>
          <a:xfrm>
            <a:off x="4572000" y="4443984"/>
            <a:ext cx="2011680" cy="402336"/>
          </a:xfrm>
          <a:prstGeom prst="rect">
            <a:avLst/>
          </a:prstGeom>
          <a:solidFill>
            <a:srgbClr val="2C3E6B"/>
          </a:solidFill>
          <a:ln w="12700">
            <a:solidFill>
              <a:srgbClr val="2C3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19"/>
          <p:cNvSpPr/>
          <p:nvPr/>
        </p:nvSpPr>
        <p:spPr>
          <a:xfrm>
            <a:off x="4572000" y="4443984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Grade 3 vs 0: −45.8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26" name="Shape 20"/>
          <p:cNvSpPr/>
          <p:nvPr/>
        </p:nvSpPr>
        <p:spPr>
          <a:xfrm>
            <a:off x="6748272" y="4443984"/>
            <a:ext cx="2011680" cy="402336"/>
          </a:xfrm>
          <a:prstGeom prst="rect">
            <a:avLst/>
          </a:prstGeom>
          <a:solidFill>
            <a:srgbClr val="2A7F8F"/>
          </a:solidFill>
          <a:ln w="12700">
            <a:solidFill>
              <a:srgbClr val="2C3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1"/>
          <p:cNvSpPr/>
          <p:nvPr/>
        </p:nvSpPr>
        <p:spPr>
          <a:xfrm>
            <a:off x="6748272" y="4443984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All pairs: p = 0</a:t>
            </a:r>
            <a:endParaRPr lang="en-US" sz="1200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640080"/>
          </a:xfrm>
          <a:prstGeom prst="rect">
            <a:avLst/>
          </a:prstGeom>
          <a:solidFill>
            <a:srgbClr val="2C3E6B"/>
          </a:solidFill>
          <a:ln w="12700">
            <a:solidFill>
              <a:srgbClr val="2C3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C8D4EC"/>
          </a:solidFill>
          <a:ln w="12700">
            <a:solidFill>
              <a:srgbClr val="C8D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47472" y="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C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Analysis — Regression Models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4160520" cy="4005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EC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777240"/>
            <a:ext cx="4160520" cy="347472"/>
          </a:xfrm>
          <a:prstGeom prst="rect">
            <a:avLst/>
          </a:prstGeom>
          <a:solidFill>
            <a:srgbClr val="2C3E6B"/>
          </a:solidFill>
          <a:ln w="12700">
            <a:solidFill>
              <a:srgbClr val="2C3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777240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Model 1 — Linear Regression  |  Predicts: ExamScore</a:t>
            </a:r>
            <a:endParaRPr lang="en-US" sz="1050" dirty="0">
              <a:latin typeface="Aptos" panose="020B0004020202020204" pitchFamily="34" charset="0"/>
            </a:endParaRPr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2316931"/>
              </p:ext>
            </p:extLst>
          </p:nvPr>
        </p:nvGraphicFramePr>
        <p:xfrm>
          <a:off x="347472" y="1161288"/>
          <a:ext cx="4005072" cy="16002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89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Proxy</a:t>
                      </a:r>
                      <a:endParaRPr lang="en-US" sz="110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B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Coefficient</a:t>
                      </a:r>
                      <a:endParaRPr lang="en-US" sz="110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B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p-value</a:t>
                      </a:r>
                      <a:endParaRPr lang="en-US" sz="110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B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StudyHours</a:t>
                      </a:r>
                      <a:endParaRPr lang="en-US" sz="110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0.006</a:t>
                      </a:r>
                      <a:endParaRPr lang="en-US" sz="110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0.836</a:t>
                      </a:r>
                      <a:endParaRPr lang="en-US" sz="110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Attendance</a:t>
                      </a:r>
                      <a:endParaRPr lang="en-US" sz="110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-0.020</a:t>
                      </a:r>
                      <a:endParaRPr lang="en-US" sz="110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0.250</a:t>
                      </a:r>
                      <a:endParaRPr lang="en-US" sz="110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Discussions</a:t>
                      </a:r>
                      <a:endParaRPr lang="en-US" sz="110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-0.982</a:t>
                      </a:r>
                      <a:endParaRPr lang="en-US" sz="110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0.017 ✓</a:t>
                      </a:r>
                      <a:endParaRPr lang="en-US" sz="110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Motivation</a:t>
                      </a:r>
                      <a:endParaRPr lang="en-US" sz="110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-0.136</a:t>
                      </a:r>
                      <a:endParaRPr lang="en-US" sz="110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0.609</a:t>
                      </a:r>
                      <a:endParaRPr lang="en-US" sz="110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AssignCompl</a:t>
                      </a:r>
                      <a:endParaRPr lang="en-US" sz="110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0.022</a:t>
                      </a:r>
                      <a:endParaRPr lang="en-US" sz="110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0.103</a:t>
                      </a:r>
                      <a:endParaRPr lang="en-US" sz="110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347472" y="2834640"/>
            <a:ext cx="4005072" cy="777240"/>
          </a:xfrm>
          <a:prstGeom prst="rect">
            <a:avLst/>
          </a:prstGeom>
          <a:solidFill>
            <a:srgbClr val="E8EEF8"/>
          </a:solidFill>
          <a:ln w="12700">
            <a:solidFill>
              <a:srgbClr val="C8D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11480" y="2834640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C3E6B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R² = 0.0013</a:t>
            </a:r>
            <a:endParaRPr lang="en-US" sz="2400" dirty="0">
              <a:latin typeface="Aptos" panose="020B0004020202020204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11480" y="326440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A85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Only 0.13% of ExamScore variation explained</a:t>
            </a:r>
            <a:endParaRPr lang="en-US" sz="1000" dirty="0">
              <a:latin typeface="Aptos" panose="020B0004020202020204" pitchFamily="34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347472" y="3675888"/>
            <a:ext cx="4005072" cy="777240"/>
          </a:xfrm>
          <a:prstGeom prst="rect">
            <a:avLst/>
          </a:prstGeom>
          <a:solidFill>
            <a:srgbClr val="E8EEF8"/>
          </a:solidFill>
          <a:ln w="12700">
            <a:solidFill>
              <a:srgbClr val="E8E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57200" y="3675888"/>
            <a:ext cx="378561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2C3E6B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Overall model p = 0.079 — not significant. </a:t>
            </a:r>
          </a:p>
          <a:p>
            <a:pPr marL="0" indent="0">
              <a:buNone/>
            </a:pPr>
            <a:r>
              <a:rPr lang="en-US" sz="1050" i="1" dirty="0">
                <a:solidFill>
                  <a:srgbClr val="2C3E6B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Reflection proxies cannot predict ExamScore. </a:t>
            </a:r>
          </a:p>
          <a:p>
            <a:pPr marL="0" indent="0">
              <a:buNone/>
            </a:pPr>
            <a:r>
              <a:rPr lang="en-US" sz="1050" i="1" dirty="0">
                <a:solidFill>
                  <a:srgbClr val="2C3E6B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Exam performance is driven by factors not in this dataset.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4709160" y="777240"/>
            <a:ext cx="4160520" cy="4005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EC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4709160" y="777240"/>
            <a:ext cx="4160520" cy="347472"/>
          </a:xfrm>
          <a:prstGeom prst="rect">
            <a:avLst/>
          </a:prstGeom>
          <a:solidFill>
            <a:srgbClr val="2A7F8F"/>
          </a:solidFill>
          <a:ln w="12700">
            <a:solidFill>
              <a:srgbClr val="2A7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709160" y="777240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Model 2 — Logistic Regression  |  Predicts: Pass / Fail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4828032" y="11887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6B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Confusion Matrix:</a:t>
            </a:r>
            <a:endParaRPr lang="en-US" sz="1100" dirty="0">
              <a:latin typeface="Aptos" panose="020B0004020202020204" pitchFamily="34" charset="0"/>
            </a:endParaRPr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1482562"/>
              </p:ext>
            </p:extLst>
          </p:nvPr>
        </p:nvGraphicFramePr>
        <p:xfrm>
          <a:off x="4800600" y="1463040"/>
          <a:ext cx="3977640" cy="82296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Actual 0 (Pass)</a:t>
                      </a:r>
                      <a:endParaRPr lang="en-US" sz="110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Actual 1 (Fail)</a:t>
                      </a:r>
                      <a:endParaRPr lang="en-US" sz="110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Predicted 0</a:t>
                      </a:r>
                      <a:endParaRPr lang="en-US" sz="110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7896B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2,875 ✓</a:t>
                      </a:r>
                      <a:endParaRPr lang="en-US" sz="110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0392B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2,690 ✗</a:t>
                      </a:r>
                      <a:endParaRPr lang="en-US" sz="110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Predicted 1</a:t>
                      </a:r>
                      <a:endParaRPr lang="en-US" sz="110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0392B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1,123 ✗</a:t>
                      </a:r>
                      <a:endParaRPr lang="en-US" sz="110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7896B"/>
                          </a:solidFill>
                          <a:latin typeface="Aptos" panose="020B0004020202020204" pitchFamily="34" charset="0"/>
                          <a:ea typeface="Calibri" pitchFamily="34" charset="-122"/>
                          <a:cs typeface="Calibri" pitchFamily="34" charset="-120"/>
                        </a:rPr>
                        <a:t>1,125 ✓</a:t>
                      </a:r>
                      <a:endParaRPr lang="en-US" sz="1100" dirty="0">
                        <a:latin typeface="Aptos" panose="020B00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0" name="Text 16"/>
          <p:cNvSpPr/>
          <p:nvPr/>
        </p:nvSpPr>
        <p:spPr>
          <a:xfrm>
            <a:off x="4800600" y="233172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total of 4,000 correct out of 7,813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4800600" y="2633472"/>
            <a:ext cx="3977640" cy="749808"/>
          </a:xfrm>
          <a:prstGeom prst="rect">
            <a:avLst/>
          </a:prstGeom>
          <a:solidFill>
            <a:srgbClr val="E8EEF8"/>
          </a:solidFill>
          <a:ln w="12700">
            <a:solidFill>
              <a:srgbClr val="C8D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4800600" y="2633472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0392B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51.2%</a:t>
            </a:r>
            <a:endParaRPr lang="en-US" sz="2600" dirty="0">
              <a:latin typeface="Aptos" panose="020B0004020202020204" pitchFamily="34" charset="0"/>
            </a:endParaRPr>
          </a:p>
        </p:txBody>
      </p:sp>
      <p:sp>
        <p:nvSpPr>
          <p:cNvPr id="23" name="Text 19"/>
          <p:cNvSpPr/>
          <p:nvPr/>
        </p:nvSpPr>
        <p:spPr>
          <a:xfrm>
            <a:off x="4800600" y="3081528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A85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Model accuracy — barely above random guessing (50%)</a:t>
            </a:r>
            <a:endParaRPr lang="en-US" sz="1000" dirty="0">
              <a:latin typeface="Aptos" panose="020B0004020202020204" pitchFamily="34" charset="0"/>
            </a:endParaRPr>
          </a:p>
        </p:txBody>
      </p:sp>
      <p:sp>
        <p:nvSpPr>
          <p:cNvPr id="24" name="Shape 20"/>
          <p:cNvSpPr/>
          <p:nvPr/>
        </p:nvSpPr>
        <p:spPr>
          <a:xfrm>
            <a:off x="4800600" y="3456432"/>
            <a:ext cx="3977640" cy="987552"/>
          </a:xfrm>
          <a:prstGeom prst="rect">
            <a:avLst/>
          </a:prstGeom>
          <a:solidFill>
            <a:srgbClr val="E8EEF8"/>
          </a:solidFill>
          <a:ln w="12700">
            <a:solidFill>
              <a:srgbClr val="E8E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/>
          <p:nvPr/>
        </p:nvSpPr>
        <p:spPr>
          <a:xfrm>
            <a:off x="4910328" y="3456432"/>
            <a:ext cx="3758184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2C3E6B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All odds ratios near 1.0 — none of the proxies meaningfully change a student's chances of passing or failing. </a:t>
            </a:r>
          </a:p>
          <a:p>
            <a:pPr marL="0" indent="0">
              <a:buNone/>
            </a:pPr>
            <a:r>
              <a:rPr lang="en-US" sz="1050" i="1" dirty="0">
                <a:solidFill>
                  <a:srgbClr val="2C3E6B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Only Discussions at 1.118 shows a slight effect (+12% odds of failing), but practically negligible.</a:t>
            </a:r>
            <a:endParaRPr lang="en-US" sz="1050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640080"/>
          </a:xfrm>
          <a:prstGeom prst="rect">
            <a:avLst/>
          </a:prstGeom>
          <a:solidFill>
            <a:srgbClr val="2C3E6B"/>
          </a:solidFill>
          <a:ln w="12700">
            <a:solidFill>
              <a:srgbClr val="2C3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C8D4EC"/>
          </a:solidFill>
          <a:ln w="12700">
            <a:solidFill>
              <a:srgbClr val="C8D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47472" y="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C3E6B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Assumptions Made Throughout the Analysis</a:t>
            </a: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20040" y="804672"/>
            <a:ext cx="4206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EC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804672"/>
            <a:ext cx="4206240" cy="301752"/>
          </a:xfrm>
          <a:prstGeom prst="rect">
            <a:avLst/>
          </a:prstGeom>
          <a:solidFill>
            <a:srgbClr val="2C3E6B"/>
          </a:solidFill>
          <a:ln w="12700">
            <a:solidFill>
              <a:srgbClr val="2C3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" y="804672"/>
            <a:ext cx="4206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48056" y="1152144"/>
            <a:ext cx="395020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7,813 rows accurately represent the student population. The 7 selected columns are sufficient to represent reflection and understanding.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709160" y="804672"/>
            <a:ext cx="4206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EC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09160" y="804672"/>
            <a:ext cx="4206240" cy="301752"/>
          </a:xfrm>
          <a:prstGeom prst="rect">
            <a:avLst/>
          </a:prstGeom>
          <a:solidFill>
            <a:srgbClr val="2A7F8F"/>
          </a:solidFill>
          <a:ln w="12700">
            <a:solidFill>
              <a:srgbClr val="2A7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09160" y="804672"/>
            <a:ext cx="4206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Descriptive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837176" y="1152144"/>
            <a:ext cx="395020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Summary statistics (mean, median, SD) meaningfully represent the data. Charts accurately visualise the distributions.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20040" y="1883664"/>
            <a:ext cx="4206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EC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20040" y="1883664"/>
            <a:ext cx="4206240" cy="301752"/>
          </a:xfrm>
          <a:prstGeom prst="rect">
            <a:avLst/>
          </a:prstGeom>
          <a:solidFill>
            <a:srgbClr val="2C3E6B"/>
          </a:solidFill>
          <a:ln w="12700">
            <a:solidFill>
              <a:srgbClr val="2C3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0040" y="1883664"/>
            <a:ext cx="4206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Pearson Correlation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48056" y="2231136"/>
            <a:ext cx="395020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ExamScore is normally distributed. Both variables are continuous and numeric.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709160" y="1883664"/>
            <a:ext cx="4206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EC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709160" y="1883664"/>
            <a:ext cx="4206240" cy="301752"/>
          </a:xfrm>
          <a:prstGeom prst="rect">
            <a:avLst/>
          </a:prstGeom>
          <a:solidFill>
            <a:srgbClr val="2A7F8F"/>
          </a:solidFill>
          <a:ln w="12700">
            <a:solidFill>
              <a:srgbClr val="2A7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09160" y="1883664"/>
            <a:ext cx="4206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Spearman Correlation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837176" y="2231136"/>
            <a:ext cx="395020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FinalGrade is ordinal with a meaningful order (0 is best, 3 is worst).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320040" y="2962656"/>
            <a:ext cx="4206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EC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20040" y="2962656"/>
            <a:ext cx="4206240" cy="301752"/>
          </a:xfrm>
          <a:prstGeom prst="rect">
            <a:avLst/>
          </a:prstGeom>
          <a:solidFill>
            <a:srgbClr val="2C3E6B"/>
          </a:solidFill>
          <a:ln w="12700">
            <a:solidFill>
              <a:srgbClr val="2C3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20040" y="2962656"/>
            <a:ext cx="4206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T-Test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48056" y="3310128"/>
            <a:ext cx="395020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The two discussion groups (0 and 1) are independent of each other. ExamScore values are roughly normally distributed within each group.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709160" y="2962656"/>
            <a:ext cx="4206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EC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709160" y="2962656"/>
            <a:ext cx="4206240" cy="301752"/>
          </a:xfrm>
          <a:prstGeom prst="rect">
            <a:avLst/>
          </a:prstGeom>
          <a:solidFill>
            <a:srgbClr val="2A7F8F"/>
          </a:solidFill>
          <a:ln w="12700">
            <a:solidFill>
              <a:srgbClr val="2A7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709160" y="2962656"/>
            <a:ext cx="4206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ANOVA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4837176" y="3310128"/>
            <a:ext cx="395020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Exam scores within each grade group are roughly normally distributed. Variances across the four groups are similar (homogeneity of variance).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320040" y="3993642"/>
            <a:ext cx="1444752" cy="659892"/>
          </a:xfrm>
          <a:prstGeom prst="rect">
            <a:avLst/>
          </a:prstGeom>
          <a:solidFill>
            <a:srgbClr val="2C3E6B"/>
          </a:solidFill>
          <a:ln w="12700">
            <a:solidFill>
              <a:srgbClr val="2C3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65176" y="3822192"/>
            <a:ext cx="1554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1947672" y="3922776"/>
            <a:ext cx="6675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The relationship between reflection proxies and the outcome variable is approximately linear.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320040" y="4700016"/>
            <a:ext cx="8503920" cy="375666"/>
          </a:xfrm>
          <a:prstGeom prst="rect">
            <a:avLst/>
          </a:prstGeom>
          <a:solidFill>
            <a:srgbClr val="E8EEF8"/>
          </a:solidFill>
          <a:ln w="12700">
            <a:solidFill>
              <a:srgbClr val="E8E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29768" y="4753356"/>
            <a:ext cx="82844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C3E6B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In short: We assumed the data is representative, variables are suitable, and statistical assumptions like normality and independence are reasonably satisfied.</a:t>
            </a:r>
            <a:endParaRPr lang="en-US" sz="1050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640080"/>
          </a:xfrm>
          <a:prstGeom prst="rect">
            <a:avLst/>
          </a:prstGeom>
          <a:solidFill>
            <a:srgbClr val="2C3E6B"/>
          </a:solidFill>
          <a:ln w="12700">
            <a:solidFill>
              <a:srgbClr val="2C3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C8D4EC"/>
          </a:solidFill>
          <a:ln w="12700">
            <a:solidFill>
              <a:srgbClr val="C8D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47472" y="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C3E6B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Results — Summary Across All Three Analysis Stages</a:t>
            </a: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20040" y="804672"/>
            <a:ext cx="85039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EC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804672"/>
            <a:ext cx="1371600" cy="1143000"/>
          </a:xfrm>
          <a:prstGeom prst="rect">
            <a:avLst/>
          </a:prstGeom>
          <a:solidFill>
            <a:srgbClr val="2A7F8F"/>
          </a:solidFill>
          <a:ln w="12700">
            <a:solidFill>
              <a:srgbClr val="2A7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" y="804672"/>
            <a:ext cx="1371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Descriptive</a:t>
            </a:r>
            <a:endParaRPr lang="en-US" sz="1300" dirty="0">
              <a:latin typeface="Aptos" panose="020B00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810512" y="896112"/>
            <a:ext cx="68580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Exam scores distributed evenly - no clustering</a:t>
            </a:r>
            <a:endParaRPr lang="en-US" sz="1100" dirty="0">
              <a:latin typeface="Aptos" panose="020B0004020202020204" pitchFamily="34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Discussion participants vs non-participants: &lt; 1 mark difference</a:t>
            </a:r>
            <a:endParaRPr lang="en-US" sz="1100" dirty="0">
              <a:latin typeface="Aptos" panose="020B0004020202020204" pitchFamily="34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Box plot - clear grade separation (~15 marks between each level)</a:t>
            </a:r>
            <a:endParaRPr lang="en-US" sz="1100" dirty="0">
              <a:latin typeface="Aptos" panose="020B0004020202020204" pitchFamily="34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All correlations near zero - no meaningful linear relationships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20040" y="2066544"/>
            <a:ext cx="85039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EC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0040" y="2066544"/>
            <a:ext cx="1371600" cy="1143000"/>
          </a:xfrm>
          <a:prstGeom prst="rect">
            <a:avLst/>
          </a:prstGeom>
          <a:solidFill>
            <a:srgbClr val="2C3E6B"/>
          </a:solidFill>
          <a:ln w="12700">
            <a:solidFill>
              <a:srgbClr val="2C3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0040" y="2066544"/>
            <a:ext cx="1371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Inferential</a:t>
            </a:r>
            <a:endParaRPr lang="en-US" sz="1300" dirty="0">
              <a:latin typeface="Aptos" panose="020B00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810512" y="2157984"/>
            <a:ext cx="68580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4 out of 5 proxies show NO significant relationship (Pearson &amp; Spearman)</a:t>
            </a:r>
            <a:endParaRPr lang="en-US" sz="1100" dirty="0">
              <a:latin typeface="Aptos" panose="020B0004020202020204" pitchFamily="34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Discussions - only significant proxy in all tests (p &lt; 0.05)</a:t>
            </a:r>
            <a:endParaRPr lang="en-US" sz="1100" dirty="0">
              <a:latin typeface="Aptos" panose="020B0004020202020204" pitchFamily="34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Effect sizes negligible: r = -0.027, rho = 0.034</a:t>
            </a:r>
            <a:endParaRPr lang="en-US" sz="1100" dirty="0">
              <a:latin typeface="Aptos" panose="020B0004020202020204" pitchFamily="34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ANOVA: F = 38,843, p &lt; 0.001 - strongest result, confirms grade separation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20040" y="3328416"/>
            <a:ext cx="85039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EC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20040" y="3328416"/>
            <a:ext cx="1371600" cy="1143000"/>
          </a:xfrm>
          <a:prstGeom prst="rect">
            <a:avLst/>
          </a:prstGeom>
          <a:solidFill>
            <a:srgbClr val="2A7F8F"/>
          </a:solidFill>
          <a:ln w="12700">
            <a:solidFill>
              <a:srgbClr val="2A7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0040" y="3328416"/>
            <a:ext cx="1371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Predictive</a:t>
            </a:r>
            <a:endParaRPr lang="en-US" sz="1300" dirty="0">
              <a:latin typeface="Aptos" panose="020B00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810512" y="3419856"/>
            <a:ext cx="68580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Linear regression: R² = 0.0013 - proxies explain only 0.13% of ExamScore</a:t>
            </a:r>
            <a:endParaRPr lang="en-US" sz="1100" dirty="0">
              <a:latin typeface="Aptos" panose="020B0004020202020204" pitchFamily="34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Overall model not significant (p = 0.079)</a:t>
            </a:r>
            <a:endParaRPr lang="en-US" sz="1100" dirty="0">
              <a:latin typeface="Aptos" panose="020B0004020202020204" pitchFamily="34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Logistic regression: 51.2% accuracy - barely better than random guessing</a:t>
            </a:r>
            <a:endParaRPr lang="en-US" sz="1100" dirty="0">
              <a:latin typeface="Aptos" panose="020B0004020202020204" pitchFamily="34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Odds ratios all near 1.0 - proxies have no predictive power on Pass/Fail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20040" y="4645152"/>
            <a:ext cx="8503920" cy="320040"/>
          </a:xfrm>
          <a:prstGeom prst="rect">
            <a:avLst/>
          </a:prstGeom>
          <a:solidFill>
            <a:srgbClr val="2C3E6B"/>
          </a:solidFill>
          <a:ln w="12700">
            <a:solidFill>
              <a:srgbClr val="2C3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29768" y="4645152"/>
            <a:ext cx="8284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Consistent pattern across all 3 stages: Only Discussions shows any significance, but with negligible effect sizes.</a:t>
            </a:r>
            <a:endParaRPr lang="en-US" sz="1100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640080"/>
          </a:xfrm>
          <a:prstGeom prst="rect">
            <a:avLst/>
          </a:prstGeom>
          <a:solidFill>
            <a:srgbClr val="2C3E6B"/>
          </a:solidFill>
          <a:ln w="12700">
            <a:solidFill>
              <a:srgbClr val="2C3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C8D4EC"/>
          </a:solidFill>
          <a:ln w="12700">
            <a:solidFill>
              <a:srgbClr val="C8D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47472" y="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C3E6B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Final Decision</a:t>
            </a: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20040" y="777240"/>
            <a:ext cx="8503920" cy="594360"/>
          </a:xfrm>
          <a:prstGeom prst="rect">
            <a:avLst/>
          </a:prstGeom>
          <a:solidFill>
            <a:srgbClr val="2C3E6B"/>
          </a:solidFill>
          <a:ln w="12700">
            <a:solidFill>
              <a:srgbClr val="2C3E6B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77724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H₀ CANNOT be fully rejected — data provides only LIMITED and PARTIAL support for H₁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20040" y="1508760"/>
            <a:ext cx="41605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EC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0040" y="1508760"/>
            <a:ext cx="4160520" cy="301752"/>
          </a:xfrm>
          <a:prstGeom prst="rect">
            <a:avLst/>
          </a:prstGeom>
          <a:solidFill>
            <a:srgbClr val="2C3E6B"/>
          </a:solidFill>
          <a:ln w="12700">
            <a:solidFill>
              <a:srgbClr val="2C3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0040" y="1508760"/>
            <a:ext cx="4160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Only 1 of 5 proxies significant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48056" y="1856232"/>
            <a:ext cx="391363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Discussions showed significance in Pearson, Spearman, and T-test but effect sizes were r = -0.027 and rho = 0.034, which are negligibly small.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663440" y="1508760"/>
            <a:ext cx="41605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EC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663440" y="1508760"/>
            <a:ext cx="4160520" cy="301752"/>
          </a:xfrm>
          <a:prstGeom prst="rect">
            <a:avLst/>
          </a:prstGeom>
          <a:solidFill>
            <a:srgbClr val="2A7F8F"/>
          </a:solidFill>
          <a:ln w="12700">
            <a:solidFill>
              <a:srgbClr val="2A7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663440" y="1508760"/>
            <a:ext cx="4160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Models failed to predict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791456" y="1856232"/>
            <a:ext cx="391363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2D3748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Linear regression R² = 0.0013.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2D3748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Logistic regression accuracy = 51.2%. 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Both confirm the proxies carry almost no predictive information.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20040" y="3017520"/>
            <a:ext cx="41605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EC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20040" y="3017520"/>
            <a:ext cx="4160520" cy="301752"/>
          </a:xfrm>
          <a:prstGeom prst="rect">
            <a:avLst/>
          </a:prstGeom>
          <a:solidFill>
            <a:srgbClr val="2C3E6B"/>
          </a:solidFill>
          <a:ln w="12700">
            <a:solidFill>
              <a:srgbClr val="2C3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20040" y="3017520"/>
            <a:ext cx="4160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Aligned with literature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48056" y="3364992"/>
            <a:ext cx="391363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2D3748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Lew &amp; Schmidt (2011): weak correlations between reflection and academic grades — 'subtle impact.’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2D3748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Dahlgren (2020): reflection not equally effective for all students.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663440" y="3017520"/>
            <a:ext cx="41605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EC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663440" y="3017520"/>
            <a:ext cx="4160520" cy="301752"/>
          </a:xfrm>
          <a:prstGeom prst="rect">
            <a:avLst/>
          </a:prstGeom>
          <a:solidFill>
            <a:srgbClr val="2A7F8F"/>
          </a:solidFill>
          <a:ln w="12700">
            <a:solidFill>
              <a:srgbClr val="2A7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663440" y="3017520"/>
            <a:ext cx="4160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Proxy limitation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791456" y="3364992"/>
            <a:ext cx="391363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Our proxies measure what students DO, not how deeply they THINK. 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 student can attend every class without actually reflecting. This gap limits our findings.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320040" y="4645152"/>
            <a:ext cx="8503920" cy="320040"/>
          </a:xfrm>
          <a:prstGeom prst="rect">
            <a:avLst/>
          </a:prstGeom>
          <a:solidFill>
            <a:srgbClr val="E8EEF8"/>
          </a:solidFill>
          <a:ln w="12700">
            <a:solidFill>
              <a:srgbClr val="E8E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29768" y="4645152"/>
            <a:ext cx="8284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C3E6B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The statement may hold true in principle, but the behavioural proxy variables are insufficient to statistically demonstrate it.</a:t>
            </a:r>
            <a:endParaRPr lang="en-US" sz="1100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640080"/>
          </a:xfrm>
          <a:prstGeom prst="rect">
            <a:avLst/>
          </a:prstGeom>
          <a:solidFill>
            <a:srgbClr val="2C3E6B"/>
          </a:solidFill>
          <a:ln w="12700">
            <a:solidFill>
              <a:srgbClr val="2C3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C8D4EC"/>
          </a:solidFill>
          <a:ln w="12700">
            <a:solidFill>
              <a:srgbClr val="C8D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47472" y="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C3E6B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20040" y="804672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EC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804672"/>
            <a:ext cx="2743200" cy="301752"/>
          </a:xfrm>
          <a:prstGeom prst="rect">
            <a:avLst/>
          </a:prstGeom>
          <a:solidFill>
            <a:srgbClr val="2C3E6B"/>
          </a:solidFill>
          <a:ln w="12700">
            <a:solidFill>
              <a:srgbClr val="2C3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" y="804672"/>
            <a:ext cx="2743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48056" y="1152144"/>
            <a:ext cx="248716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7,813 student records, 5 reflection proxies, 2 understanding proxies analysed across 3 stages.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209544" y="804672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EC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09544" y="804672"/>
            <a:ext cx="2743200" cy="301752"/>
          </a:xfrm>
          <a:prstGeom prst="rect">
            <a:avLst/>
          </a:prstGeom>
          <a:solidFill>
            <a:srgbClr val="2A7F8F"/>
          </a:solidFill>
          <a:ln w="12700">
            <a:solidFill>
              <a:srgbClr val="2A7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09544" y="804672"/>
            <a:ext cx="2743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Inferential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337560" y="1152144"/>
            <a:ext cx="248716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Only Discussions showed significance. All other proxies showed no significant relationship with ExamScore or FinalGrade.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099048" y="804672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EC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099048" y="804672"/>
            <a:ext cx="2743200" cy="301752"/>
          </a:xfrm>
          <a:prstGeom prst="rect">
            <a:avLst/>
          </a:prstGeom>
          <a:solidFill>
            <a:srgbClr val="2C3E6B"/>
          </a:solidFill>
          <a:ln w="12700">
            <a:solidFill>
              <a:srgbClr val="2C3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099048" y="804672"/>
            <a:ext cx="2743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Predictive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227064" y="1152144"/>
            <a:ext cx="248716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R² = 0.0013, Accuracy = 51.2%. Reflection proxies have virtually no predictive power.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20040" y="2377440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EC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20040" y="2377440"/>
            <a:ext cx="2743200" cy="301752"/>
          </a:xfrm>
          <a:prstGeom prst="rect">
            <a:avLst/>
          </a:prstGeom>
          <a:solidFill>
            <a:srgbClr val="2A7F8F"/>
          </a:solidFill>
          <a:ln w="12700">
            <a:solidFill>
              <a:srgbClr val="2A7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20040" y="2377440"/>
            <a:ext cx="2743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Literature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48056" y="2724912"/>
            <a:ext cx="248716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Consistent with Lew &amp; Schmidt (2011) and Dahlgren (2020) — reflection's effect on measurable outcomes is subtle.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3209544" y="2377440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EC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209544" y="2377440"/>
            <a:ext cx="2743200" cy="301752"/>
          </a:xfrm>
          <a:prstGeom prst="rect">
            <a:avLst/>
          </a:prstGeom>
          <a:solidFill>
            <a:srgbClr val="2C3E6B"/>
          </a:solidFill>
          <a:ln w="12700">
            <a:solidFill>
              <a:srgbClr val="2C3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209544" y="2377440"/>
            <a:ext cx="2743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Limitation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3337560" y="2724912"/>
            <a:ext cx="248716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Proxies measure behaviour, not depth of thinking. Direct reflection measures would give stronger results.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099048" y="2377440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EC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099048" y="2377440"/>
            <a:ext cx="2743200" cy="301752"/>
          </a:xfrm>
          <a:prstGeom prst="rect">
            <a:avLst/>
          </a:prstGeom>
          <a:solidFill>
            <a:srgbClr val="2A7F8F"/>
          </a:solidFill>
          <a:ln w="12700">
            <a:solidFill>
              <a:srgbClr val="2A7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099048" y="2377440"/>
            <a:ext cx="2743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227064" y="2724912"/>
            <a:ext cx="248716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Use datasets with journal scores, self-assessments, or structured reflection ratings for more meaningful analysis.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320040" y="3977640"/>
            <a:ext cx="8503920" cy="457200"/>
          </a:xfrm>
          <a:prstGeom prst="rect">
            <a:avLst/>
          </a:prstGeom>
          <a:solidFill>
            <a:srgbClr val="2C3E6B"/>
          </a:solidFill>
          <a:ln w="12700">
            <a:solidFill>
              <a:srgbClr val="2C3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29768" y="3977640"/>
            <a:ext cx="82844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Our data provides only limited and partial support for H₁ — reflection behaviours alone are insufficient to statistically demonstrate deeper understanding.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320040" y="4498848"/>
            <a:ext cx="8503920" cy="475488"/>
          </a:xfrm>
          <a:prstGeom prst="rect">
            <a:avLst/>
          </a:prstGeom>
          <a:solidFill>
            <a:srgbClr val="E8EEF8"/>
          </a:solidFill>
          <a:ln w="12700">
            <a:solidFill>
              <a:srgbClr val="C8D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20040" y="4498848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3E6B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Thank You  |  The Learning Loop  |  IT3011 – TPSM  |  SLIIT</a:t>
            </a:r>
            <a:endParaRPr lang="en-US" sz="1300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391</TotalTime>
  <Words>1815</Words>
  <Application>Microsoft Office PowerPoint</Application>
  <PresentationFormat>On-screen Show (16:9)</PresentationFormat>
  <Paragraphs>309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ZAHRA J H F it23708280</cp:lastModifiedBy>
  <cp:revision>5</cp:revision>
  <dcterms:created xsi:type="dcterms:W3CDTF">2026-04-29T03:17:23Z</dcterms:created>
  <dcterms:modified xsi:type="dcterms:W3CDTF">2026-05-03T09:41:55Z</dcterms:modified>
</cp:coreProperties>
</file>